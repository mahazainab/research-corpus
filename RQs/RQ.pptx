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7" y="3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384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59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362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418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567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142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528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385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954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294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607178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9233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257483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6443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0228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677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834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7ABABA7-0420-4200-9B65-1C1967CE9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17EBE3-FF86-4DA1-BC9A-331F7F214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A03E380-9CD1-4ABA-A763-9F9D252B8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4507495" y="0"/>
            <a:ext cx="4632727" cy="6853245"/>
            <a:chOff x="2487613" y="285750"/>
            <a:chExt cx="2428876" cy="5654676"/>
          </a:xfrm>
          <a:solidFill>
            <a:schemeClr val="bg2">
              <a:lumMod val="90000"/>
            </a:schemeClr>
          </a:solidFill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66E01B84-4C2B-4DE5-90C8-9C4001A75B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64CE5A7A-D5C5-4FE5-860C-0B5748FDEE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016A7D2A-6EEA-47B8-A763-7D82E41B3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758F6E7-6DEC-48D0-ACB1-E5E26B13E6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B56657FF-C027-42E7-859B-902929B6FA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79047F2A-5978-46C6-B3A2-54AAC2136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F3BE8FD1-0A72-4640-AC7A-2E057273F8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52FC782-A372-4D11-B20D-958955E56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AA00B2F1-BEE2-444A-8249-C8E3212CA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4" y="468286"/>
              <a:ext cx="1768475" cy="4262464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E7F5747E-514B-4CF7-B6B0-DAD7149097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931614BB-1593-40ED-8113-2BD1187055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691871F-F15C-4E19-BC9C-78E5748D74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8077" y="1318591"/>
            <a:ext cx="4350697" cy="4220820"/>
          </a:xfrm>
        </p:spPr>
        <p:txBody>
          <a:bodyPr anchor="ctr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3600" dirty="0">
                <a:solidFill>
                  <a:schemeClr val="tx2">
                    <a:lumMod val="75000"/>
                  </a:schemeClr>
                </a:solidFill>
              </a:rPr>
              <a:t>Small-Model Multi-Agent Debate to Improve Reasoning of Language Models for Source-Code Comprehension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4D43EC1-35FA-4FC3-8526-F655CEB09D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2897" y="1871831"/>
            <a:ext cx="0" cy="3200400"/>
          </a:xfrm>
          <a:prstGeom prst="line">
            <a:avLst/>
          </a:prstGeom>
          <a:ln w="158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Prior work on code comprehension evaluation shows that LLMs perform well on factual and surface-level questions but struggle with completeness, clarity, and abstract reasoning.</a:t>
            </a:r>
          </a:p>
          <a:p>
            <a:r>
              <a:rPr dirty="0"/>
              <a:t>Teacher‒student LLM-as-judge with </a:t>
            </a:r>
            <a:r>
              <a:rPr dirty="0" err="1"/>
              <a:t>ToM</a:t>
            </a:r>
            <a:r>
              <a:rPr dirty="0"/>
              <a:t> interventions improved evaluation reliability by aligning smaller judge models with larger ones.</a:t>
            </a:r>
          </a:p>
          <a:p>
            <a:r>
              <a:rPr dirty="0"/>
              <a:t>However, this approach remains limited by reliance on a single stronger teacher and high computational cost.</a:t>
            </a:r>
          </a:p>
          <a:p>
            <a:pPr lvl="0"/>
            <a:r>
              <a:rPr lang="en-US" dirty="0"/>
              <a:t>Hypothesis: Coordinated debate among **small** models + targeted </a:t>
            </a:r>
            <a:r>
              <a:rPr lang="en-US" dirty="0" err="1"/>
              <a:t>ToM</a:t>
            </a:r>
            <a:r>
              <a:rPr lang="en-US" dirty="0"/>
              <a:t> interventions ≈ teacher quality at lower cost.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Questions (RQs)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RQ1 (Effectiveness): Can multi-agent SLM debate improve comprehension reasoning beyond single-LLM and ToM-based evaluation frameworks?</a:t>
            </a:r>
          </a:p>
          <a:p>
            <a:r>
              <a:t>RQ2 (Mechanism): How do debate protocols (single-round vs multi-round, critique styles) compare to ToM teacher interventions?</a:t>
            </a:r>
          </a:p>
          <a:p>
            <a:r>
              <a:t>RQ3 (Efficiency): Does SLM debate achieve competitive improvements at lower computational cost than teacher-student ToM correction?</a:t>
            </a:r>
          </a:p>
          <a:p>
            <a:r>
              <a:t>RQ4 (Generalization): Do debate-based gains extend across question categories (What, Why, How, Algorithm, Error reasoning)?</a:t>
            </a:r>
          </a:p>
          <a:p>
            <a:r>
              <a:t>RQ5 (Robustness): Does debate reduce unreliable judgments (e.g., fluent but incorrect, off-topic but confident answers)?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 — High-Level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Datasets: CS1QA (educational comprehension Qs) and </a:t>
            </a:r>
            <a:r>
              <a:rPr dirty="0" err="1"/>
              <a:t>CodeQA</a:t>
            </a:r>
            <a:r>
              <a:rPr dirty="0"/>
              <a:t> (diverse program reasoning tasks).</a:t>
            </a:r>
          </a:p>
          <a:p>
            <a:r>
              <a:rPr dirty="0"/>
              <a:t>Baseline Setup (from prior work): retrieval-augmented prompting + LLM-as-judge with teacher-student </a:t>
            </a:r>
            <a:r>
              <a:rPr dirty="0" err="1"/>
              <a:t>ToM</a:t>
            </a:r>
            <a:r>
              <a:rPr dirty="0"/>
              <a:t> interventions.</a:t>
            </a:r>
          </a:p>
          <a:p>
            <a:r>
              <a:rPr dirty="0"/>
              <a:t>Extension:</a:t>
            </a:r>
          </a:p>
          <a:p>
            <a:r>
              <a:rPr dirty="0"/>
              <a:t>Replace single teacher judge with 3‒7 SLM debaters.</a:t>
            </a:r>
          </a:p>
          <a:p>
            <a:r>
              <a:rPr dirty="0"/>
              <a:t>Protocol includes: initial answer proposals → multi-round critique &amp; refutation → final arbitration by a small Judge.</a:t>
            </a:r>
          </a:p>
          <a:p>
            <a:r>
              <a:rPr dirty="0"/>
              <a:t>Integrate suspicion patterns (from prior </a:t>
            </a:r>
            <a:r>
              <a:rPr dirty="0" err="1"/>
              <a:t>ToM</a:t>
            </a:r>
            <a:r>
              <a:rPr dirty="0"/>
              <a:t> framework) to trigger extra debate rounds on questionable answers.</a:t>
            </a:r>
          </a:p>
          <a:p>
            <a:r>
              <a:rPr dirty="0"/>
              <a:t>Optional Lesson Bank to capture recurring reasoning errors and corrections for reuse.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Debate Protocol (per sample)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1. Input Construction: As in </a:t>
            </a:r>
            <a:r>
              <a:rPr lang="en-US" dirty="0"/>
              <a:t>the </a:t>
            </a:r>
            <a:r>
              <a:rPr dirty="0"/>
              <a:t>base framework</a:t>
            </a:r>
            <a:r>
              <a:rPr lang="en-US" dirty="0"/>
              <a:t>, r</a:t>
            </a:r>
            <a:r>
              <a:rPr dirty="0"/>
              <a:t>etrieved demos + question + code.</a:t>
            </a:r>
          </a:p>
          <a:p>
            <a:r>
              <a:rPr dirty="0"/>
              <a:t>2. Round 0 (Propose): Each SLM outputs answer + rationale.</a:t>
            </a:r>
          </a:p>
          <a:p>
            <a:r>
              <a:rPr dirty="0"/>
              <a:t>3. Debate Rounds (t=1..T): Each agent critiques peers’ answers (pointing out </a:t>
            </a:r>
            <a:r>
              <a:rPr lang="en-US" dirty="0"/>
              <a:t>accuracy, </a:t>
            </a:r>
            <a:r>
              <a:rPr dirty="0"/>
              <a:t>completeness,</a:t>
            </a:r>
            <a:r>
              <a:rPr lang="en-US" dirty="0"/>
              <a:t> clarity</a:t>
            </a:r>
            <a:r>
              <a:rPr dirty="0"/>
              <a:t> or relevance) and updates its own.</a:t>
            </a:r>
          </a:p>
          <a:p>
            <a:r>
              <a:rPr dirty="0"/>
              <a:t>4. Suspicion Trigger: If patterns (fluent-but-wrong, off-topic, contradictions) are detected, extend debate by 1 round.</a:t>
            </a:r>
          </a:p>
          <a:p>
            <a:r>
              <a:rPr dirty="0"/>
              <a:t>5. Judge Arbitration: Selects final based on evidence coverage, alignment to reference, and debate convergence.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1465005"/>
            <a:ext cx="6945946" cy="5053781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Task Correctness (Datasets)</a:t>
            </a:r>
          </a:p>
          <a:p>
            <a:pPr lvl="1"/>
            <a:r>
              <a:rPr dirty="0"/>
              <a:t>Accuracy, Completeness, Relevance, Clarity (1‒3 scale as in base study).</a:t>
            </a:r>
          </a:p>
          <a:p>
            <a:pPr lvl="1"/>
            <a:r>
              <a:rPr dirty="0"/>
              <a:t>Stratified reporting by question type (Why, How, Algorithm, Error, Explanation).</a:t>
            </a:r>
          </a:p>
          <a:p>
            <a:r>
              <a:rPr dirty="0"/>
              <a:t>Faithfulness &amp; Reasoning Quality</a:t>
            </a:r>
          </a:p>
          <a:p>
            <a:pPr lvl="1"/>
            <a:r>
              <a:rPr dirty="0"/>
              <a:t>Error Refutation Rate: % of successful corrections of wrong peer rationales.</a:t>
            </a:r>
          </a:p>
          <a:p>
            <a:pPr lvl="1"/>
            <a:r>
              <a:rPr dirty="0"/>
              <a:t>Contradiction Rate: % final answers contradicted by debate critiques.</a:t>
            </a:r>
          </a:p>
          <a:p>
            <a:r>
              <a:rPr dirty="0"/>
              <a:t>Efficiency &amp; Cost</a:t>
            </a:r>
          </a:p>
          <a:p>
            <a:pPr lvl="1"/>
            <a:r>
              <a:rPr dirty="0"/>
              <a:t>Average tokens per evaluation.</a:t>
            </a:r>
          </a:p>
          <a:p>
            <a:pPr lvl="1"/>
            <a:r>
              <a:rPr dirty="0"/>
              <a:t>Latency per question (p50/p95).</a:t>
            </a:r>
          </a:p>
          <a:p>
            <a:pPr lvl="1"/>
            <a:r>
              <a:rPr dirty="0"/>
              <a:t>Accuracy/cost trade-off vs </a:t>
            </a:r>
            <a:r>
              <a:rPr dirty="0" err="1"/>
              <a:t>ToM</a:t>
            </a:r>
            <a:r>
              <a:rPr dirty="0"/>
              <a:t> teacher-student framework.</a:t>
            </a:r>
          </a:p>
          <a:p>
            <a:r>
              <a:rPr dirty="0"/>
              <a:t>Robustness</a:t>
            </a:r>
          </a:p>
          <a:p>
            <a:pPr lvl="1"/>
            <a:r>
              <a:rPr dirty="0"/>
              <a:t>Reduction in flagged “suspicious patterns” vs baseline.</a:t>
            </a:r>
          </a:p>
          <a:p>
            <a:pPr lvl="1"/>
            <a:r>
              <a:rPr dirty="0"/>
              <a:t>Stress tests: long questions, abstract reasoning categories (Why/How), adversarial noise.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Single LLM (Mistral, </a:t>
            </a:r>
            <a:r>
              <a:rPr dirty="0" err="1"/>
              <a:t>CodeLlama</a:t>
            </a:r>
            <a:r>
              <a:rPr dirty="0"/>
              <a:t>).</a:t>
            </a:r>
          </a:p>
          <a:p>
            <a:r>
              <a:rPr dirty="0" err="1"/>
              <a:t>ToM</a:t>
            </a:r>
            <a:r>
              <a:rPr dirty="0"/>
              <a:t> Teacher‒Student Judge</a:t>
            </a:r>
          </a:p>
          <a:p>
            <a:r>
              <a:rPr dirty="0"/>
              <a:t>SLM Multi-Agent Debate (our extension).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Ablation Studies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#Agents: 1 vs 3 vs 5 vs 7.</a:t>
            </a:r>
          </a:p>
          <a:p>
            <a:r>
              <a:t>2. Rounds: 0, 1, 2, 3 with/without suspicion triggers.</a:t>
            </a:r>
          </a:p>
          <a:p>
            <a:r>
              <a:t>3. Intervention Type: ToM teacher vs debate vs hybrid (teacher for suspicion cases only).</a:t>
            </a:r>
          </a:p>
          <a:p>
            <a:r>
              <a:t>4. Judge Variant: Rule-based vs small-LLM vs hybrid.</a:t>
            </a:r>
          </a:p>
          <a:p>
            <a:r>
              <a:t>5. Lesson Bank: enabled vs disabled.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Show that debate reduces suspicious misjudgments (e.g., fluent-but-wrong answers) while lowering cost compared to large teacher interventions.</a:t>
            </a:r>
          </a:p>
          <a:p>
            <a:r>
              <a:rPr dirty="0"/>
              <a:t>Deliver a framework for improving reasoning faithfulness in code comprehension evaluation.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2041</TotalTime>
  <Words>665</Words>
  <Application>Microsoft Office PowerPoint</Application>
  <PresentationFormat>On-screen Show (4:3)</PresentationFormat>
  <Paragraphs>53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Wisp</vt:lpstr>
      <vt:lpstr>Small-Model Multi-Agent Debate to Improve Reasoning of Language Models for Source-Code Comprehension</vt:lpstr>
      <vt:lpstr>Motivation</vt:lpstr>
      <vt:lpstr>Research Questions (RQs)</vt:lpstr>
      <vt:lpstr>Method — High-Level Framework</vt:lpstr>
      <vt:lpstr>Debate Protocol (per sample)</vt:lpstr>
      <vt:lpstr>Evaluation Metrics</vt:lpstr>
      <vt:lpstr>Baselines</vt:lpstr>
      <vt:lpstr>Ablation Studies</vt:lpstr>
      <vt:lpstr>Expected Contributions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Maha Zainab</cp:lastModifiedBy>
  <cp:revision>5</cp:revision>
  <dcterms:created xsi:type="dcterms:W3CDTF">2013-01-27T09:14:16Z</dcterms:created>
  <dcterms:modified xsi:type="dcterms:W3CDTF">2025-10-03T17:31:54Z</dcterms:modified>
  <cp:category/>
</cp:coreProperties>
</file>